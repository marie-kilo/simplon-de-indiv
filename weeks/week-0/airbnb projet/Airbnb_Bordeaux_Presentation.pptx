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8404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411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Marché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Bordeaux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365760" y="3429000"/>
            <a:ext cx="2560320" cy="36576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520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&amp; Data Analysis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977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de 4 · Présentation de 15 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914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6480" y="1737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26480" y="2560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26480" y="3383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4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Répartition des Rôles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0233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38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502920" cy="1645920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371600"/>
            <a:ext cx="466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9144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Données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sources, modèle de données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0116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Personne 1  ·  3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40233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22960"/>
            <a:ext cx="502920" cy="1645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1371600"/>
            <a:ext cx="466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03520" y="9144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&amp; Préparation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14173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Outliers, fusion calendrier, taux d'occupation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0" y="20116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Personne 2  ·  3 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697480"/>
            <a:ext cx="40233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697480"/>
            <a:ext cx="502920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3246120"/>
            <a:ext cx="466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8680" y="278892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Descriptive &amp; Géo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329184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Prix, saisonnalité, cartographie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8862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Personne 3  ·  4 min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697480"/>
            <a:ext cx="40233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9C46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697480"/>
            <a:ext cx="502920" cy="16459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3246120"/>
            <a:ext cx="466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03520" y="278892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Hôtes, Corrélations &amp; Conclu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329184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Particuliers vs pros, insights clés, conclusion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0" y="38862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Personne 4  ·  5 min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1298448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analyser Airbnb à Bordeaux 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" y="171907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Bordeaux figure parmi les métropoles touristiques françaises les plus dynamiques.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2377440"/>
            <a:ext cx="128016" cy="128016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86000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la structure des prix et les facteurs tarifaires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52928"/>
            <a:ext cx="128016" cy="128016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6148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dynamiques géographiques et saisonnières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3328416"/>
            <a:ext cx="128016" cy="128016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36976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Distinguer hôtes particuliers et professionnels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3803904"/>
            <a:ext cx="128016" cy="128016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12464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la satisfaction voyageurs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4663440"/>
            <a:ext cx="2560320" cy="347472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68172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Personne 1  ·  3 min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Modèle de Données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109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Personne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7432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38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2743200" cy="502920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listings.csv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389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~7 500 logements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764792"/>
            <a:ext cx="228600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28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clés 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1031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price, room_type, neighbourhood, lat/lon, host_id, reviews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777240"/>
            <a:ext cx="27432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34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777240"/>
            <a:ext cx="274320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80467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calendar.csv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1389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quotidiennes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37560" y="1764792"/>
            <a:ext cx="228600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828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clés 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1031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listing_id, date, available, price → calcul taux d'occupation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777240"/>
            <a:ext cx="27432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777240"/>
            <a:ext cx="2743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80467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neighbourhoods.csv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1389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 quartiers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1764792"/>
            <a:ext cx="228600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1828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clés 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21031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→ jointure sur neighbourhood_cleansed de listings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663440"/>
            <a:ext cx="8595360" cy="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&amp; Préparation des Données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109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Personne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0" y="77724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8412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Anomalies traitées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325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Prix type object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6002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de symboles $ et virgules → conversion float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057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Outliers prix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3317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entre 15€ et 800€/nuit (max brut: 23 700€)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788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minimum_nights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30632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des séjours &gt; 30 nuits (longue durée)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520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Valeurs manquantes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7947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 manquantes remplacées par 1 (médiane)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8412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Résultats de nettoyage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1325880"/>
            <a:ext cx="17373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0" y="1325880"/>
            <a:ext cx="1737360" cy="640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1463040"/>
            <a:ext cx="1554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7 532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5120640" y="1929384"/>
            <a:ext cx="1554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logements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qualifiés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9440" y="1325880"/>
            <a:ext cx="17373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38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49440" y="1325880"/>
            <a:ext cx="1737360" cy="64008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1463040"/>
            <a:ext cx="1554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43.09%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7040880" y="1929384"/>
            <a:ext cx="1554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d'occupation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Bordeaux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calendar × listings 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0" y="2898648"/>
            <a:ext cx="109728" cy="109728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283464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== 'f' → logement réservé (is_occupied = 1)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3282696"/>
            <a:ext cx="109728" cy="109728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321868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de Bos : taux max 61.16%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0" y="3666744"/>
            <a:ext cx="109728" cy="109728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360273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Bassens : taux min 25.21%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Descriptive — Prix &amp; Logements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109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Personne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96596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38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1965960" cy="64008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178308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78 €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17830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médian / nuit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777240"/>
            <a:ext cx="196596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777240"/>
            <a:ext cx="1965960" cy="640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914400"/>
            <a:ext cx="178308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107 €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514600" y="1463040"/>
            <a:ext cx="17830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moyen / nuit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777240"/>
            <a:ext cx="196596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777240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914400"/>
            <a:ext cx="178308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3.55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663440" y="1463040"/>
            <a:ext cx="17830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Voyageurs moyens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logement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20840" y="777240"/>
            <a:ext cx="214884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9C46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20840" y="777240"/>
            <a:ext cx="214884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914400"/>
            <a:ext cx="196596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nuits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812280" y="1463040"/>
            <a:ext cx="19659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Séjour minimum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103120"/>
            <a:ext cx="85953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22128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Principaux Enseignements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11480" y="2697480"/>
            <a:ext cx="54864" cy="640080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69748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asymétrique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3008376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concentration sous 100€/nuit avec traîne vers le haut (haut de gamme)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2697480"/>
            <a:ext cx="54864" cy="640080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69748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Logements entiers dominants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008376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le plus cher — chambres partagées marginales et très économiques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3566160"/>
            <a:ext cx="54864" cy="640080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56616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centre/périphérie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3877056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Hôtel de Ville–Quinconces : ~145€ (max) · Caudéran : moins cher (périphérie)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3566160"/>
            <a:ext cx="54864" cy="640080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56616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type du marché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3877056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Studio/T2, 1 chambre, 2-4 voyageurs, week-end — marché standardisé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Saisonnalité &amp; Analyse Géographique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109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Personne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5029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868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Évolution mensuelle des prix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3154680"/>
            <a:ext cx="329184" cy="457200"/>
          </a:xfrm>
          <a:prstGeom prst="rect">
            <a:avLst/>
          </a:prstGeom>
          <a:solidFill>
            <a:srgbClr val="FFBDCA"/>
          </a:solidFill>
          <a:ln w="12700">
            <a:solidFill>
              <a:srgbClr val="FFBD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" y="365760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329184" cy="502920"/>
          </a:xfrm>
          <a:prstGeom prst="rect">
            <a:avLst/>
          </a:prstGeom>
          <a:solidFill>
            <a:srgbClr val="FFBDCA"/>
          </a:solidFill>
          <a:ln w="12700">
            <a:solidFill>
              <a:srgbClr val="FFBD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365760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78992" y="2971800"/>
            <a:ext cx="329184" cy="640080"/>
          </a:xfrm>
          <a:prstGeom prst="rect">
            <a:avLst/>
          </a:prstGeom>
          <a:solidFill>
            <a:srgbClr val="FFBDCA"/>
          </a:solidFill>
          <a:ln w="12700">
            <a:solidFill>
              <a:srgbClr val="FFBD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365760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426464" y="2834640"/>
            <a:ext cx="329184" cy="777240"/>
          </a:xfrm>
          <a:prstGeom prst="rect">
            <a:avLst/>
          </a:prstGeom>
          <a:solidFill>
            <a:srgbClr val="FF8096"/>
          </a:solidFill>
          <a:ln w="12700">
            <a:solidFill>
              <a:srgbClr val="FF80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65760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773936" y="2697480"/>
            <a:ext cx="329184" cy="914400"/>
          </a:xfrm>
          <a:prstGeom prst="rect">
            <a:avLst/>
          </a:prstGeom>
          <a:solidFill>
            <a:srgbClr val="FF8096"/>
          </a:solidFill>
          <a:ln w="12700">
            <a:solidFill>
              <a:srgbClr val="FF80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64792" y="365760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121408" y="2560320"/>
            <a:ext cx="329184" cy="1051560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12264" y="365760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468880" y="2331720"/>
            <a:ext cx="329184" cy="1280160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59736" y="365760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816352" y="2377440"/>
            <a:ext cx="329184" cy="1234440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07208" y="365760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163824" y="2606040"/>
            <a:ext cx="329184" cy="1005840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365760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511296" y="2880360"/>
            <a:ext cx="329184" cy="731520"/>
          </a:xfrm>
          <a:prstGeom prst="rect">
            <a:avLst/>
          </a:prstGeom>
          <a:solidFill>
            <a:srgbClr val="FF8096"/>
          </a:solidFill>
          <a:ln w="12700">
            <a:solidFill>
              <a:srgbClr val="FF80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02152" y="365760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858768" y="3063240"/>
            <a:ext cx="329184" cy="548640"/>
          </a:xfrm>
          <a:prstGeom prst="rect">
            <a:avLst/>
          </a:prstGeom>
          <a:solidFill>
            <a:srgbClr val="FFBDCA"/>
          </a:solidFill>
          <a:ln w="12700">
            <a:solidFill>
              <a:srgbClr val="FFBD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9624" y="365760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206240" y="3154680"/>
            <a:ext cx="329184" cy="457200"/>
          </a:xfrm>
          <a:prstGeom prst="rect">
            <a:avLst/>
          </a:prstGeom>
          <a:solidFill>
            <a:srgbClr val="FFBDCA"/>
          </a:solidFill>
          <a:ln w="12700">
            <a:solidFill>
              <a:srgbClr val="FFBD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97096" y="365760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1148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estival : ~125€ en juillet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0" y="777240"/>
            <a:ext cx="3383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623560" y="868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Géographie des Prix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2356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Hôtel de Ville / Quinconces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955280" y="13716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~145€ moy.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2356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Chartrons / Triangle d'Or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55280" y="18745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élevés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2356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Rive gauche / Quais Garonne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955280" y="23774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haut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23560" y="2880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Rive droite / Bastide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955280" y="28803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Abordable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2356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Caudéran / Périphérie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955280" y="33832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bas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" y="4114800"/>
            <a:ext cx="8595360" cy="548640"/>
          </a:xfrm>
          <a:prstGeom prst="rect">
            <a:avLst/>
          </a:prstGeom>
          <a:solidFill>
            <a:srgbClr val="FFF0F3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Le taux d'occupation est plus élevé en été (corrélé à la montée des prix) et présente de grands écarts géographiques (61% vs 25%).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des Hôtes &amp; Corrélations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109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Personne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8686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🏘️  Particuliers vs Professionnels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194560" cy="502920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1371600"/>
            <a:ext cx="160020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9903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Particuliers 62%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70048" y="139903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38%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3840480" cy="457200"/>
          </a:xfrm>
          <a:prstGeom prst="rect">
            <a:avLst/>
          </a:prstGeom>
          <a:solidFill>
            <a:srgbClr val="0F3460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011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45920" y="2011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Particuliers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80360" y="2011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514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moyen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45920" y="2514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113,23 €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80360" y="2514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98,80 €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3840480" cy="457200"/>
          </a:xfrm>
          <a:prstGeom prst="rect">
            <a:avLst/>
          </a:prstGeom>
          <a:solidFill>
            <a:srgbClr val="F0F8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017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médian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45920" y="3017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80 €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80360" y="3017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474720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520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Biens gérés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45920" y="3520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annonce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80360" y="3520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annonces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3977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Les particuliers louent leur résidence principale (+ grand, + cher). Les pros optimisent de petites surfaces standardisées.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77724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00600" y="8686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Corrélations Clés (Pearson)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00600" y="1417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↔ Capacité (accommodates)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1755648"/>
            <a:ext cx="3017520" cy="16459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1755648"/>
            <a:ext cx="2172614" cy="164592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09560" y="14173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0.72 · Forte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2194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↔ Chambres (bedrooms)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00600" y="2532888"/>
            <a:ext cx="3017520" cy="16459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2532888"/>
            <a:ext cx="1810512" cy="16459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09560" y="21945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0.60 · Modérée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00600" y="2971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↔ Avis (number_of_reviews)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00600" y="3310128"/>
            <a:ext cx="3017520" cy="16459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3310128"/>
            <a:ext cx="150876" cy="164592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09560" y="2971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0.05 · Nulle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00600" y="3749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↔ Note (rating)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00600" y="4087368"/>
            <a:ext cx="3017520" cy="16459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00600" y="4087368"/>
            <a:ext cx="241402" cy="164592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09560" y="37490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0.08 · Nulle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00600" y="39319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Notes voyageurs : entre 4.5 et 5/5 tous types confondus — excellence homogène de l'accueil à Bordeaux.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Générale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932688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réponses clés aux questions du brief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4114800" cy="1298448"/>
          </a:xfrm>
          <a:prstGeom prst="rect">
            <a:avLst/>
          </a:prstGeom>
          <a:solidFill>
            <a:srgbClr val="1E2A3A"/>
          </a:solidFill>
          <a:ln w="19050">
            <a:solidFill>
              <a:srgbClr val="FF38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63040"/>
            <a:ext cx="457200" cy="1298448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87452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53619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marché sous les 100€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938528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Médiane 78€, moyenne 107€. Distribution étalée par le haut de gamme.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4114800" cy="1298448"/>
          </a:xfrm>
          <a:prstGeom prst="rect">
            <a:avLst/>
          </a:prstGeom>
          <a:solidFill>
            <a:srgbClr val="1E2A3A"/>
          </a:solidFill>
          <a:ln w="1905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463040"/>
            <a:ext cx="457200" cy="129844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4024" y="187452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153619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Saisonnalité marquée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1938528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estival ~125€ en juillet. Taux d'occupation corrélé à la demande touristique.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926080"/>
            <a:ext cx="4114800" cy="1298448"/>
          </a:xfrm>
          <a:prstGeom prst="rect">
            <a:avLst/>
          </a:prstGeom>
          <a:solidFill>
            <a:srgbClr val="1E2A3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926080"/>
            <a:ext cx="457200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333756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299923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centre/périphérie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401568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Hôtel de Ville 145€ vs Caudéran. Taux d'occ : 61% vs 25% selon quartier.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4114800" cy="1298448"/>
          </a:xfrm>
          <a:prstGeom prst="rect">
            <a:avLst/>
          </a:prstGeom>
          <a:solidFill>
            <a:srgbClr val="1E2A3A"/>
          </a:solidFill>
          <a:ln w="19050">
            <a:solidFill>
              <a:srgbClr val="E9C4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926080"/>
            <a:ext cx="457200" cy="129844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4024" y="333756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03520" y="299923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d'accueil = moteur du prix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0" y="3401568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corrélation prix/taille. Aucun effet réputation ou note sur le tarif.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4663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Personne 4  ·  5 min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0" y="4617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🙏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Airbnb Bordeaux</dc:title>
  <dc:subject>PptxGenJS Presentation</dc:subject>
  <dc:creator>PptxGenJS</dc:creator>
  <cp:lastModifiedBy>PptxGenJS</cp:lastModifiedBy>
  <cp:revision>1</cp:revision>
  <dcterms:created xsi:type="dcterms:W3CDTF">2026-05-21T10:03:17Z</dcterms:created>
  <dcterms:modified xsi:type="dcterms:W3CDTF">2026-05-21T10:03:17Z</dcterms:modified>
</cp:coreProperties>
</file>